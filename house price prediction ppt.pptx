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Montserrat" charset="1" panose="00000500000000000000"/>
      <p:regular r:id="rId18"/>
    </p:embeddedFont>
    <p:embeddedFont>
      <p:font typeface="Canva Sans Bold" charset="1" panose="020B0803030501040103"/>
      <p:regular r:id="rId19"/>
    </p:embeddedFont>
    <p:embeddedFont>
      <p:font typeface="Montserrat Italics" charset="1" panose="00000500000000000000"/>
      <p:regular r:id="rId20"/>
    </p:embeddedFont>
    <p:embeddedFont>
      <p:font typeface="Montserrat Semi-Bold" charset="1" panose="000007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414845" y="2095702"/>
            <a:ext cx="12177370" cy="281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6"/>
              </a:lnSpc>
            </a:pPr>
            <a:r>
              <a:rPr lang="en-US" sz="8083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TITLE-</a:t>
            </a:r>
          </a:p>
          <a:p>
            <a:pPr algn="ctr">
              <a:lnSpc>
                <a:spcPts val="6466"/>
              </a:lnSpc>
            </a:pPr>
          </a:p>
          <a:p>
            <a:pPr algn="ctr">
              <a:lnSpc>
                <a:spcPts val="4546"/>
              </a:lnSpc>
            </a:pPr>
            <a:r>
              <a:rPr lang="en-US" b="true" sz="5683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House Price Prediction Using Machine Learning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596877" y="336700"/>
            <a:ext cx="490149" cy="403705"/>
          </a:xfrm>
          <a:custGeom>
            <a:avLst/>
            <a:gdLst/>
            <a:ahLst/>
            <a:cxnLst/>
            <a:rect r="r" b="b" t="t" l="l"/>
            <a:pathLst>
              <a:path h="403705" w="490149">
                <a:moveTo>
                  <a:pt x="0" y="0"/>
                </a:moveTo>
                <a:lnTo>
                  <a:pt x="490149" y="0"/>
                </a:lnTo>
                <a:lnTo>
                  <a:pt x="490149" y="403705"/>
                </a:lnTo>
                <a:lnTo>
                  <a:pt x="0" y="403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70424" y="8359258"/>
            <a:ext cx="4060352" cy="172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3415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by-</a:t>
            </a:r>
          </a:p>
          <a:p>
            <a:pPr algn="l">
              <a:lnSpc>
                <a:spcPts val="3483"/>
              </a:lnSpc>
            </a:pPr>
            <a:r>
              <a:rPr lang="en-US" sz="3415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Prapti Tiwari</a:t>
            </a:r>
          </a:p>
          <a:p>
            <a:pPr algn="l">
              <a:lnSpc>
                <a:spcPts val="3483"/>
              </a:lnSpc>
            </a:pPr>
            <a:r>
              <a:rPr lang="en-US" sz="3415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ID-UU252000004</a:t>
            </a:r>
          </a:p>
          <a:p>
            <a:pPr algn="l">
              <a:lnSpc>
                <a:spcPts val="3483"/>
              </a:lnSpc>
            </a:pPr>
            <a:r>
              <a:rPr lang="en-US" sz="3415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Course-MCA(IBM)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050268" y="790690"/>
            <a:ext cx="2237732" cy="341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2605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5-12-2025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493896" y="5379084"/>
            <a:ext cx="12177370" cy="1036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Technologies: Python, Pandas, NumPy, Scikit-Learn, Matplotlib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Domain: Machine Learning / Real-Estate Analytics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33001" y="9142878"/>
            <a:ext cx="5138266" cy="94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368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Submitted To-</a:t>
            </a:r>
          </a:p>
          <a:p>
            <a:pPr algn="l">
              <a:lnSpc>
                <a:spcPts val="3755"/>
              </a:lnSpc>
            </a:pPr>
            <a:r>
              <a:rPr lang="en-US" sz="368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Samarth Amrute Sir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317278"/>
            <a:ext cx="14152523" cy="6891819"/>
            <a:chOff x="0" y="0"/>
            <a:chExt cx="3727414" cy="18151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7414" cy="1815129"/>
            </a:xfrm>
            <a:custGeom>
              <a:avLst/>
              <a:gdLst/>
              <a:ahLst/>
              <a:cxnLst/>
              <a:rect r="r" b="b" t="t" l="l"/>
              <a:pathLst>
                <a:path h="1815129" w="3727414">
                  <a:moveTo>
                    <a:pt x="0" y="0"/>
                  </a:moveTo>
                  <a:lnTo>
                    <a:pt x="3727414" y="0"/>
                  </a:lnTo>
                  <a:lnTo>
                    <a:pt x="3727414" y="1815129"/>
                  </a:lnTo>
                  <a:lnTo>
                    <a:pt x="0" y="1815129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27414" cy="1853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82939" y="1456894"/>
            <a:ext cx="7968670" cy="7451590"/>
            <a:chOff x="0" y="0"/>
            <a:chExt cx="1234556" cy="11544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4556" cy="1154446"/>
            </a:xfrm>
            <a:custGeom>
              <a:avLst/>
              <a:gdLst/>
              <a:ahLst/>
              <a:cxnLst/>
              <a:rect r="r" b="b" t="t" l="l"/>
              <a:pathLst>
                <a:path h="1154446" w="1234556">
                  <a:moveTo>
                    <a:pt x="0" y="0"/>
                  </a:moveTo>
                  <a:lnTo>
                    <a:pt x="1234556" y="0"/>
                  </a:lnTo>
                  <a:lnTo>
                    <a:pt x="1234556" y="1154446"/>
                  </a:lnTo>
                  <a:lnTo>
                    <a:pt x="0" y="1154446"/>
                  </a:lnTo>
                  <a:close/>
                </a:path>
              </a:pathLst>
            </a:custGeom>
            <a:blipFill>
              <a:blip r:embed="rId2"/>
              <a:stretch>
                <a:fillRect l="0" t="-1073" r="0" b="-107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366501" y="6709979"/>
            <a:ext cx="6573048" cy="2241939"/>
            <a:chOff x="0" y="0"/>
            <a:chExt cx="1731173" cy="5904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1173" cy="590470"/>
            </a:xfrm>
            <a:custGeom>
              <a:avLst/>
              <a:gdLst/>
              <a:ahLst/>
              <a:cxnLst/>
              <a:rect r="r" b="b" t="t" l="l"/>
              <a:pathLst>
                <a:path h="590470" w="1731173">
                  <a:moveTo>
                    <a:pt x="0" y="0"/>
                  </a:moveTo>
                  <a:lnTo>
                    <a:pt x="1731173" y="0"/>
                  </a:lnTo>
                  <a:lnTo>
                    <a:pt x="1731173" y="590470"/>
                  </a:lnTo>
                  <a:lnTo>
                    <a:pt x="0" y="590470"/>
                  </a:lnTo>
                  <a:close/>
                </a:path>
              </a:pathLst>
            </a:custGeom>
            <a:gradFill rotWithShape="true">
              <a:gsLst>
                <a:gs pos="0">
                  <a:srgbClr val="F7ACFF">
                    <a:alpha val="0"/>
                  </a:srgbClr>
                </a:gs>
                <a:gs pos="100000">
                  <a:srgbClr val="3C67B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31173" cy="628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758233" y="2306583"/>
            <a:ext cx="1892038" cy="189203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7830949"/>
            <a:ext cx="2155070" cy="215507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49938" y="875473"/>
            <a:ext cx="490149" cy="403705"/>
          </a:xfrm>
          <a:custGeom>
            <a:avLst/>
            <a:gdLst/>
            <a:ahLst/>
            <a:cxnLst/>
            <a:rect r="r" b="b" t="t" l="l"/>
            <a:pathLst>
              <a:path h="403705" w="490149">
                <a:moveTo>
                  <a:pt x="0" y="0"/>
                </a:moveTo>
                <a:lnTo>
                  <a:pt x="490149" y="0"/>
                </a:lnTo>
                <a:lnTo>
                  <a:pt x="490149" y="403705"/>
                </a:lnTo>
                <a:lnTo>
                  <a:pt x="0" y="40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00540" y="1693375"/>
            <a:ext cx="1256320" cy="125632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660248" y="8446187"/>
            <a:ext cx="1122575" cy="924593"/>
          </a:xfrm>
          <a:custGeom>
            <a:avLst/>
            <a:gdLst/>
            <a:ahLst/>
            <a:cxnLst/>
            <a:rect r="r" b="b" t="t" l="l"/>
            <a:pathLst>
              <a:path h="924593" w="1122575">
                <a:moveTo>
                  <a:pt x="0" y="0"/>
                </a:moveTo>
                <a:lnTo>
                  <a:pt x="1122574" y="0"/>
                </a:lnTo>
                <a:lnTo>
                  <a:pt x="1122574" y="924594"/>
                </a:lnTo>
                <a:lnTo>
                  <a:pt x="0" y="924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939549" y="2212922"/>
            <a:ext cx="1256320" cy="125632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595013" y="2696848"/>
            <a:ext cx="5886282" cy="772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6833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95013" y="3770614"/>
            <a:ext cx="6417795" cy="4675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23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 project focuses on building a predictive model capable of estimating house prices based on multiple influencing factors. The real-estate market is highly dynamic, and price variations depend on numerous attributes.</a:t>
            </a:r>
          </a:p>
          <a:p>
            <a:pPr algn="l">
              <a:lnSpc>
                <a:spcPts val="2670"/>
              </a:lnSpc>
            </a:pPr>
            <a:r>
              <a:rPr lang="en-US" sz="23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Aim: Develop a data-driven model using Python and ML algorithms to estimate property prices accurately.</a:t>
            </a:r>
          </a:p>
          <a:p>
            <a:pPr algn="l">
              <a:lnSpc>
                <a:spcPts val="2670"/>
              </a:lnSpc>
            </a:pPr>
            <a:r>
              <a:rPr lang="en-US" sz="23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model assists buyers, sellers, and real estate companies with informed decision-making.</a:t>
            </a:r>
          </a:p>
          <a:p>
            <a:pPr algn="l">
              <a:lnSpc>
                <a:spcPts val="267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39435" y="875473"/>
            <a:ext cx="11264060" cy="11375654"/>
            <a:chOff x="0" y="0"/>
            <a:chExt cx="2966666" cy="29960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6666" cy="2996057"/>
            </a:xfrm>
            <a:custGeom>
              <a:avLst/>
              <a:gdLst/>
              <a:ahLst/>
              <a:cxnLst/>
              <a:rect r="r" b="b" t="t" l="l"/>
              <a:pathLst>
                <a:path h="2996057" w="2966666">
                  <a:moveTo>
                    <a:pt x="0" y="0"/>
                  </a:moveTo>
                  <a:lnTo>
                    <a:pt x="2966666" y="0"/>
                  </a:lnTo>
                  <a:lnTo>
                    <a:pt x="2966666" y="2996057"/>
                  </a:lnTo>
                  <a:lnTo>
                    <a:pt x="0" y="2996057"/>
                  </a:lnTo>
                  <a:close/>
                </a:path>
              </a:pathLst>
            </a:custGeom>
            <a:gradFill rotWithShape="true">
              <a:gsLst>
                <a:gs pos="0">
                  <a:srgbClr val="F7ACFF">
                    <a:alpha val="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3C67BF">
                    <a:alpha val="23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66666" cy="3034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54546" y="-1328013"/>
            <a:ext cx="5214383" cy="52143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49938" y="875473"/>
            <a:ext cx="490149" cy="403705"/>
          </a:xfrm>
          <a:custGeom>
            <a:avLst/>
            <a:gdLst/>
            <a:ahLst/>
            <a:cxnLst/>
            <a:rect r="r" b="b" t="t" l="l"/>
            <a:pathLst>
              <a:path h="403705" w="490149">
                <a:moveTo>
                  <a:pt x="0" y="0"/>
                </a:moveTo>
                <a:lnTo>
                  <a:pt x="490149" y="0"/>
                </a:lnTo>
                <a:lnTo>
                  <a:pt x="490149" y="403705"/>
                </a:lnTo>
                <a:lnTo>
                  <a:pt x="0" y="403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2165858" y="2721850"/>
            <a:ext cx="6136420" cy="6136420"/>
            <a:chOff x="0" y="0"/>
            <a:chExt cx="14840029" cy="148400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100000"/>
                  </a:srgbClr>
                </a:gs>
                <a:gs pos="100000">
                  <a:srgbClr val="8875D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2165858" y="2735376"/>
            <a:ext cx="6344447" cy="6344447"/>
            <a:chOff x="0" y="0"/>
            <a:chExt cx="14840029" cy="14840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100000"/>
                  </a:srgbClr>
                </a:gs>
                <a:gs pos="100000">
                  <a:srgbClr val="F7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34497" t="0" r="-34497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908020" y="7636544"/>
            <a:ext cx="4721330" cy="472133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63283" y="5907599"/>
            <a:ext cx="262038" cy="26203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0" y="7295600"/>
            <a:ext cx="262038" cy="26203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63283" y="1768481"/>
            <a:ext cx="9016363" cy="772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6833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63283" y="2836150"/>
            <a:ext cx="9043591" cy="231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sz="2830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House prices vary due to factors such as</a:t>
            </a:r>
          </a:p>
          <a:p>
            <a:pPr algn="l">
              <a:lnSpc>
                <a:spcPts val="2264"/>
              </a:lnSpc>
            </a:pPr>
          </a:p>
          <a:p>
            <a:pPr algn="l">
              <a:lnSpc>
                <a:spcPts val="2264"/>
              </a:lnSpc>
            </a:pPr>
            <a:r>
              <a:rPr lang="en-US" sz="2830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geographical location, built-up area, number</a:t>
            </a:r>
          </a:p>
          <a:p>
            <a:pPr algn="l">
              <a:lnSpc>
                <a:spcPts val="2264"/>
              </a:lnSpc>
            </a:pPr>
          </a:p>
          <a:p>
            <a:pPr algn="l">
              <a:lnSpc>
                <a:spcPts val="2264"/>
              </a:lnSpc>
            </a:pPr>
            <a:r>
              <a:rPr lang="en-US" sz="2830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 rooms, age of property, facilities, and market</a:t>
            </a:r>
          </a:p>
          <a:p>
            <a:pPr algn="l">
              <a:lnSpc>
                <a:spcPts val="2264"/>
              </a:lnSpc>
            </a:pPr>
          </a:p>
          <a:p>
            <a:pPr algn="l">
              <a:lnSpc>
                <a:spcPts val="2264"/>
              </a:lnSpc>
            </a:pPr>
            <a:r>
              <a:rPr lang="en-US" sz="2830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conditions</a:t>
            </a:r>
          </a:p>
          <a:p>
            <a:pPr algn="l">
              <a:lnSpc>
                <a:spcPts val="2264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9632473" y="6002849"/>
            <a:ext cx="5628634" cy="1107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681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Traditional/manual estimation:</a:t>
            </a:r>
          </a:p>
          <a:p>
            <a:pPr algn="l">
              <a:lnSpc>
                <a:spcPts val="2145"/>
              </a:lnSpc>
            </a:pPr>
          </a:p>
          <a:p>
            <a:pPr algn="l">
              <a:lnSpc>
                <a:spcPts val="2145"/>
              </a:lnSpc>
            </a:pPr>
            <a:r>
              <a:rPr lang="en-US" sz="268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Is time-consuming</a:t>
            </a:r>
          </a:p>
          <a:p>
            <a:pPr algn="l">
              <a:lnSpc>
                <a:spcPts val="2145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9632473" y="7611457"/>
            <a:ext cx="7141841" cy="229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64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Often inaccurate</a:t>
            </a:r>
          </a:p>
          <a:p>
            <a:pPr algn="l">
              <a:lnSpc>
                <a:spcPts val="3012"/>
              </a:lnSpc>
            </a:pPr>
            <a:r>
              <a:rPr lang="en-US" sz="264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Goal: Build an ML-based regression model that learns patterns from historical data and predicts house prices with minimal error.</a:t>
            </a:r>
          </a:p>
          <a:p>
            <a:pPr algn="l">
              <a:lnSpc>
                <a:spcPts val="3012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9632473" y="7323994"/>
            <a:ext cx="4967581" cy="31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681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Prone to bias</a:t>
            </a:r>
          </a:p>
        </p:txBody>
      </p: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431738" y="7124150"/>
            <a:ext cx="3468240" cy="3468240"/>
            <a:chOff x="0" y="0"/>
            <a:chExt cx="14840029" cy="148400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100000"/>
                  </a:srgbClr>
                </a:gs>
                <a:gs pos="100000">
                  <a:srgbClr val="F7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34497" t="0" r="-34497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2325" y="2246485"/>
            <a:ext cx="19795102" cy="6320087"/>
            <a:chOff x="0" y="0"/>
            <a:chExt cx="5213525" cy="1664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3525" cy="1664550"/>
            </a:xfrm>
            <a:custGeom>
              <a:avLst/>
              <a:gdLst/>
              <a:ahLst/>
              <a:cxnLst/>
              <a:rect r="r" b="b" t="t" l="l"/>
              <a:pathLst>
                <a:path h="1664550" w="5213525">
                  <a:moveTo>
                    <a:pt x="0" y="0"/>
                  </a:moveTo>
                  <a:lnTo>
                    <a:pt x="5213525" y="0"/>
                  </a:lnTo>
                  <a:lnTo>
                    <a:pt x="5213525" y="1664550"/>
                  </a:lnTo>
                  <a:lnTo>
                    <a:pt x="0" y="1664550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13525" cy="17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9822" y="2314202"/>
            <a:ext cx="17568356" cy="5437174"/>
            <a:chOff x="0" y="0"/>
            <a:chExt cx="4627057" cy="14320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7057" cy="1432013"/>
            </a:xfrm>
            <a:custGeom>
              <a:avLst/>
              <a:gdLst/>
              <a:ahLst/>
              <a:cxnLst/>
              <a:rect r="r" b="b" t="t" l="l"/>
              <a:pathLst>
                <a:path h="1432013" w="4627057">
                  <a:moveTo>
                    <a:pt x="0" y="0"/>
                  </a:moveTo>
                  <a:lnTo>
                    <a:pt x="4627057" y="0"/>
                  </a:lnTo>
                  <a:lnTo>
                    <a:pt x="4627057" y="1432013"/>
                  </a:lnTo>
                  <a:lnTo>
                    <a:pt x="0" y="14320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27057" cy="147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649292" y="1317278"/>
            <a:ext cx="6179058" cy="8229600"/>
          </a:xfrm>
          <a:custGeom>
            <a:avLst/>
            <a:gdLst/>
            <a:ahLst/>
            <a:cxnLst/>
            <a:rect r="r" b="b" t="t" l="l"/>
            <a:pathLst>
              <a:path h="8229600" w="6179058">
                <a:moveTo>
                  <a:pt x="0" y="0"/>
                </a:moveTo>
                <a:lnTo>
                  <a:pt x="6179058" y="0"/>
                </a:lnTo>
                <a:lnTo>
                  <a:pt x="61790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9938" y="875473"/>
            <a:ext cx="490149" cy="403705"/>
          </a:xfrm>
          <a:custGeom>
            <a:avLst/>
            <a:gdLst/>
            <a:ahLst/>
            <a:cxnLst/>
            <a:rect r="r" b="b" t="t" l="l"/>
            <a:pathLst>
              <a:path h="403705" w="490149">
                <a:moveTo>
                  <a:pt x="0" y="0"/>
                </a:moveTo>
                <a:lnTo>
                  <a:pt x="490149" y="0"/>
                </a:lnTo>
                <a:lnTo>
                  <a:pt x="490149" y="403705"/>
                </a:lnTo>
                <a:lnTo>
                  <a:pt x="0" y="40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13377" y="2246485"/>
            <a:ext cx="11018108" cy="6320087"/>
            <a:chOff x="0" y="0"/>
            <a:chExt cx="3136769" cy="17992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36769" cy="1799279"/>
            </a:xfrm>
            <a:custGeom>
              <a:avLst/>
              <a:gdLst/>
              <a:ahLst/>
              <a:cxnLst/>
              <a:rect r="r" b="b" t="t" l="l"/>
              <a:pathLst>
                <a:path h="1799279" w="3136769">
                  <a:moveTo>
                    <a:pt x="0" y="0"/>
                  </a:moveTo>
                  <a:lnTo>
                    <a:pt x="3136769" y="0"/>
                  </a:lnTo>
                  <a:lnTo>
                    <a:pt x="3136769" y="1799279"/>
                  </a:lnTo>
                  <a:lnTo>
                    <a:pt x="0" y="1799279"/>
                  </a:lnTo>
                  <a:close/>
                </a:path>
              </a:pathLst>
            </a:custGeom>
            <a:blipFill>
              <a:blip r:embed="rId5"/>
              <a:stretch>
                <a:fillRect l="0" t="-2001" r="-8409" b="-200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49257" y="1131077"/>
            <a:ext cx="1256320" cy="125632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02855" y="8513376"/>
            <a:ext cx="1256320" cy="125632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466115" y="3730770"/>
            <a:ext cx="262038" cy="26203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66115" y="5340914"/>
            <a:ext cx="262038" cy="26203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524578" y="990165"/>
            <a:ext cx="1256320" cy="125632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102279" y="-313682"/>
            <a:ext cx="3185721" cy="318572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403566" y="1871985"/>
            <a:ext cx="884434" cy="88443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466115" y="6988940"/>
            <a:ext cx="262038" cy="262038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466115" y="4520025"/>
            <a:ext cx="262038" cy="262038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466115" y="6164927"/>
            <a:ext cx="262038" cy="262038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466115" y="2944856"/>
            <a:ext cx="262038" cy="262038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774314" y="9473025"/>
            <a:ext cx="484986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084171" y="179994"/>
            <a:ext cx="7310908" cy="772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6833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739360" y="775853"/>
            <a:ext cx="7310908" cy="772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of the Project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071542" y="2933595"/>
            <a:ext cx="5196912" cy="481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Analyze a real-estate dataset to understand pricing trends.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8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Preprocess and clean the data to remove inconsistencies.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8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Apply multiple machine learning regression algorithms.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8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Compare model performances using standard evaluation metrics.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8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Identify the most important features influencing house prices.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8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Generate accurate price predictions and visualize results.</a:t>
            </a:r>
          </a:p>
          <a:p>
            <a:pPr algn="l">
              <a:lnSpc>
                <a:spcPts val="21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938" y="875473"/>
            <a:ext cx="490149" cy="403705"/>
          </a:xfrm>
          <a:custGeom>
            <a:avLst/>
            <a:gdLst/>
            <a:ahLst/>
            <a:cxnLst/>
            <a:rect r="r" b="b" t="t" l="l"/>
            <a:pathLst>
              <a:path h="403705" w="490149">
                <a:moveTo>
                  <a:pt x="0" y="0"/>
                </a:moveTo>
                <a:lnTo>
                  <a:pt x="490149" y="0"/>
                </a:lnTo>
                <a:lnTo>
                  <a:pt x="490149" y="403705"/>
                </a:lnTo>
                <a:lnTo>
                  <a:pt x="0" y="403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4106" y="2535498"/>
            <a:ext cx="8016657" cy="7644148"/>
            <a:chOff x="0" y="0"/>
            <a:chExt cx="1018337" cy="9710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8337" cy="971018"/>
            </a:xfrm>
            <a:custGeom>
              <a:avLst/>
              <a:gdLst/>
              <a:ahLst/>
              <a:cxnLst/>
              <a:rect r="r" b="b" t="t" l="l"/>
              <a:pathLst>
                <a:path h="971018" w="1018337">
                  <a:moveTo>
                    <a:pt x="0" y="0"/>
                  </a:moveTo>
                  <a:lnTo>
                    <a:pt x="1018337" y="0"/>
                  </a:lnTo>
                  <a:lnTo>
                    <a:pt x="1018337" y="971018"/>
                  </a:lnTo>
                  <a:lnTo>
                    <a:pt x="0" y="971018"/>
                  </a:lnTo>
                  <a:close/>
                </a:path>
              </a:pathLst>
            </a:custGeom>
            <a:blipFill>
              <a:blip r:embed="rId4"/>
              <a:stretch>
                <a:fillRect l="-10820" t="0" r="-108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5550681">
            <a:off x="14042372" y="6008832"/>
            <a:ext cx="6708103" cy="1416549"/>
            <a:chOff x="0" y="0"/>
            <a:chExt cx="1766743" cy="3730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66743" cy="373083"/>
            </a:xfrm>
            <a:custGeom>
              <a:avLst/>
              <a:gdLst/>
              <a:ahLst/>
              <a:cxnLst/>
              <a:rect r="r" b="b" t="t" l="l"/>
              <a:pathLst>
                <a:path h="373083" w="1766743">
                  <a:moveTo>
                    <a:pt x="0" y="0"/>
                  </a:moveTo>
                  <a:lnTo>
                    <a:pt x="1766743" y="0"/>
                  </a:lnTo>
                  <a:lnTo>
                    <a:pt x="1766743" y="373083"/>
                  </a:lnTo>
                  <a:lnTo>
                    <a:pt x="0" y="373083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79000"/>
                  </a:srgbClr>
                </a:gs>
                <a:gs pos="100000">
                  <a:srgbClr val="F7ACFF">
                    <a:alpha val="79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66743" cy="411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29177" y="2339407"/>
            <a:ext cx="1256320" cy="125632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6317" y="4750986"/>
            <a:ext cx="262038" cy="26203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6317" y="5947753"/>
            <a:ext cx="262038" cy="26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6317" y="7539648"/>
            <a:ext cx="262038" cy="26203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5580" y="36849"/>
            <a:ext cx="2028716" cy="2080953"/>
            <a:chOff x="0" y="0"/>
            <a:chExt cx="534312" cy="5480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4312" cy="548070"/>
            </a:xfrm>
            <a:custGeom>
              <a:avLst/>
              <a:gdLst/>
              <a:ahLst/>
              <a:cxnLst/>
              <a:rect r="r" b="b" t="t" l="l"/>
              <a:pathLst>
                <a:path h="548070" w="534312">
                  <a:moveTo>
                    <a:pt x="0" y="0"/>
                  </a:moveTo>
                  <a:lnTo>
                    <a:pt x="534312" y="0"/>
                  </a:lnTo>
                  <a:lnTo>
                    <a:pt x="534312" y="548070"/>
                  </a:lnTo>
                  <a:lnTo>
                    <a:pt x="0" y="548070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79000"/>
                  </a:srgbClr>
                </a:gs>
                <a:gs pos="100000">
                  <a:srgbClr val="F7ACFF">
                    <a:alpha val="79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34312" cy="586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568629" y="-318954"/>
            <a:ext cx="2249937" cy="224993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128905" y="1279178"/>
            <a:ext cx="1256320" cy="125632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63406" y="2872563"/>
            <a:ext cx="7310908" cy="772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6833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25306" y="3601942"/>
            <a:ext cx="7310908" cy="772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Description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18806" y="4760511"/>
            <a:ext cx="6574791" cy="118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2056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dataset contains real-world housing details with both numerical and categorical features.</a:t>
            </a:r>
          </a:p>
          <a:p>
            <a:pPr algn="l">
              <a:lnSpc>
                <a:spcPts val="2343"/>
              </a:lnSpc>
            </a:pPr>
            <a:r>
              <a:rPr lang="en-US" sz="2056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Features:</a:t>
            </a:r>
          </a:p>
          <a:p>
            <a:pPr algn="l">
              <a:lnSpc>
                <a:spcPts val="2343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0118806" y="5860236"/>
            <a:ext cx="6574791" cy="148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2056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Area (sq. ft.)</a:t>
            </a:r>
          </a:p>
          <a:p>
            <a:pPr algn="l">
              <a:lnSpc>
                <a:spcPts val="2343"/>
              </a:lnSpc>
            </a:pPr>
            <a:r>
              <a:rPr lang="en-US" sz="2056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Number of Bedrooms &amp; Bathrooms</a:t>
            </a:r>
          </a:p>
          <a:p>
            <a:pPr algn="l">
              <a:lnSpc>
                <a:spcPts val="2343"/>
              </a:lnSpc>
            </a:pPr>
            <a:r>
              <a:rPr lang="en-US" sz="2056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Location &amp; Locality Index</a:t>
            </a:r>
          </a:p>
          <a:p>
            <a:pPr algn="l">
              <a:lnSpc>
                <a:spcPts val="2343"/>
              </a:lnSpc>
            </a:pPr>
            <a:r>
              <a:rPr lang="en-US" sz="2056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Year Built / Property Age</a:t>
            </a:r>
          </a:p>
          <a:p>
            <a:pPr algn="l">
              <a:lnSpc>
                <a:spcPts val="2343"/>
              </a:lnSpc>
            </a:pPr>
            <a:r>
              <a:rPr lang="en-US" sz="2056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Amenities (parking, balcony, furnishing, etc.)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118806" y="7549173"/>
            <a:ext cx="6574791" cy="148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2056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Distance from key facilities (schools, markets, transport)</a:t>
            </a:r>
          </a:p>
          <a:p>
            <a:pPr algn="l">
              <a:lnSpc>
                <a:spcPts val="2343"/>
              </a:lnSpc>
            </a:pPr>
            <a:r>
              <a:rPr lang="en-US" sz="2056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Target Variable: Final Selling Price</a:t>
            </a:r>
          </a:p>
          <a:p>
            <a:pPr algn="l">
              <a:lnSpc>
                <a:spcPts val="2343"/>
              </a:lnSpc>
            </a:pPr>
            <a:r>
              <a:rPr lang="en-US" sz="2056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dataset is analyzed for completeness, distribution, and correlations.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9498" y="2101839"/>
            <a:ext cx="14152523" cy="4691226"/>
            <a:chOff x="0" y="0"/>
            <a:chExt cx="3727414" cy="1235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7414" cy="1235549"/>
            </a:xfrm>
            <a:custGeom>
              <a:avLst/>
              <a:gdLst/>
              <a:ahLst/>
              <a:cxnLst/>
              <a:rect r="r" b="b" t="t" l="l"/>
              <a:pathLst>
                <a:path h="1235549" w="3727414">
                  <a:moveTo>
                    <a:pt x="0" y="0"/>
                  </a:moveTo>
                  <a:lnTo>
                    <a:pt x="3727414" y="0"/>
                  </a:lnTo>
                  <a:lnTo>
                    <a:pt x="3727414" y="1235549"/>
                  </a:lnTo>
                  <a:lnTo>
                    <a:pt x="0" y="1235549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27414" cy="1273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74314" y="2306583"/>
            <a:ext cx="1892038" cy="189203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49938" y="875473"/>
            <a:ext cx="490149" cy="403705"/>
          </a:xfrm>
          <a:custGeom>
            <a:avLst/>
            <a:gdLst/>
            <a:ahLst/>
            <a:cxnLst/>
            <a:rect r="r" b="b" t="t" l="l"/>
            <a:pathLst>
              <a:path h="403705" w="490149">
                <a:moveTo>
                  <a:pt x="0" y="0"/>
                </a:moveTo>
                <a:lnTo>
                  <a:pt x="490149" y="0"/>
                </a:lnTo>
                <a:lnTo>
                  <a:pt x="490149" y="403705"/>
                </a:lnTo>
                <a:lnTo>
                  <a:pt x="0" y="403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00540" y="1693375"/>
            <a:ext cx="1256320" cy="125632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12232" y="6978409"/>
            <a:ext cx="978035" cy="97803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646521" y="7257623"/>
            <a:ext cx="509458" cy="419608"/>
          </a:xfrm>
          <a:custGeom>
            <a:avLst/>
            <a:gdLst/>
            <a:ahLst/>
            <a:cxnLst/>
            <a:rect r="r" b="b" t="t" l="l"/>
            <a:pathLst>
              <a:path h="419608" w="509458">
                <a:moveTo>
                  <a:pt x="0" y="0"/>
                </a:moveTo>
                <a:lnTo>
                  <a:pt x="509458" y="0"/>
                </a:lnTo>
                <a:lnTo>
                  <a:pt x="509458" y="419608"/>
                </a:lnTo>
                <a:lnTo>
                  <a:pt x="0" y="419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840087" y="6978409"/>
            <a:ext cx="1256320" cy="125632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422108" y="5233217"/>
            <a:ext cx="1256320" cy="125632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936740" y="6024064"/>
            <a:ext cx="5380243" cy="4421331"/>
          </a:xfrm>
          <a:custGeom>
            <a:avLst/>
            <a:gdLst/>
            <a:ahLst/>
            <a:cxnLst/>
            <a:rect r="r" b="b" t="t" l="l"/>
            <a:pathLst>
              <a:path h="4421331" w="5380243">
                <a:moveTo>
                  <a:pt x="0" y="0"/>
                </a:moveTo>
                <a:lnTo>
                  <a:pt x="5380242" y="0"/>
                </a:lnTo>
                <a:lnTo>
                  <a:pt x="5380242" y="4421331"/>
                </a:lnTo>
                <a:lnTo>
                  <a:pt x="0" y="4421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565795" y="6024064"/>
            <a:ext cx="7563110" cy="4262936"/>
          </a:xfrm>
          <a:custGeom>
            <a:avLst/>
            <a:gdLst/>
            <a:ahLst/>
            <a:cxnLst/>
            <a:rect r="r" b="b" t="t" l="l"/>
            <a:pathLst>
              <a:path h="4262936" w="7563110">
                <a:moveTo>
                  <a:pt x="0" y="0"/>
                </a:moveTo>
                <a:lnTo>
                  <a:pt x="7563110" y="0"/>
                </a:lnTo>
                <a:lnTo>
                  <a:pt x="7563110" y="4262936"/>
                </a:lnTo>
                <a:lnTo>
                  <a:pt x="0" y="42629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530" t="0" r="-353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106867" y="2583376"/>
            <a:ext cx="13588767" cy="2895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8"/>
              </a:lnSpc>
            </a:pPr>
            <a:r>
              <a:rPr lang="en-US" sz="25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ensure the dataset is ML-ready, the following operations are performed:</a:t>
            </a:r>
          </a:p>
          <a:p>
            <a:pPr algn="ctr">
              <a:lnSpc>
                <a:spcPts val="2898"/>
              </a:lnSpc>
            </a:pPr>
            <a:r>
              <a:rPr lang="en-US" sz="25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Handling Missing Values: Replaced using mean/median or removed if excessive.</a:t>
            </a:r>
          </a:p>
          <a:p>
            <a:pPr algn="ctr">
              <a:lnSpc>
                <a:spcPts val="2898"/>
              </a:lnSpc>
            </a:pPr>
            <a:r>
              <a:rPr lang="en-US" sz="25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Encoding Categorical Variables: One-Hot or Label Encoding for textual features.</a:t>
            </a:r>
          </a:p>
          <a:p>
            <a:pPr algn="ctr">
              <a:lnSpc>
                <a:spcPts val="2898"/>
              </a:lnSpc>
            </a:pPr>
            <a:r>
              <a:rPr lang="en-US" sz="25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Scaling Numerical Data: StandardScaler/MinMaxScaler for uniform range.</a:t>
            </a:r>
          </a:p>
          <a:p>
            <a:pPr algn="ctr">
              <a:lnSpc>
                <a:spcPts val="2898"/>
              </a:lnSpc>
            </a:pPr>
            <a:r>
              <a:rPr lang="en-US" sz="25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Outlier Detection: Boxplots &amp; Z-score to remove extreme values.</a:t>
            </a:r>
          </a:p>
          <a:p>
            <a:pPr algn="ctr">
              <a:lnSpc>
                <a:spcPts val="2898"/>
              </a:lnSpc>
            </a:pPr>
            <a:r>
              <a:rPr lang="en-US" sz="25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Train-Test Split: 80% training, 20% testing for model validation.</a:t>
            </a:r>
          </a:p>
          <a:p>
            <a:pPr algn="ctr">
              <a:lnSpc>
                <a:spcPts val="2898"/>
              </a:lnSpc>
            </a:pPr>
            <a:r>
              <a:rPr lang="en-US" b="true" sz="2542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 step significantly improves the performance and reliability of the model.</a:t>
            </a:r>
          </a:p>
          <a:p>
            <a:pPr algn="ctr">
              <a:lnSpc>
                <a:spcPts val="2898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774314" y="9473025"/>
            <a:ext cx="354591" cy="24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91067" y="881336"/>
            <a:ext cx="7310908" cy="76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b="true" sz="6833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51994" y="1555280"/>
            <a:ext cx="6508012" cy="76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Preprocessing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23420" y="5741165"/>
            <a:ext cx="7406570" cy="740657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67104" y="-2512338"/>
            <a:ext cx="5214383" cy="52143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49938" y="875473"/>
            <a:ext cx="490149" cy="403705"/>
          </a:xfrm>
          <a:custGeom>
            <a:avLst/>
            <a:gdLst/>
            <a:ahLst/>
            <a:cxnLst/>
            <a:rect r="r" b="b" t="t" l="l"/>
            <a:pathLst>
              <a:path h="403705" w="490149">
                <a:moveTo>
                  <a:pt x="0" y="0"/>
                </a:moveTo>
                <a:lnTo>
                  <a:pt x="490149" y="0"/>
                </a:lnTo>
                <a:lnTo>
                  <a:pt x="490149" y="403705"/>
                </a:lnTo>
                <a:lnTo>
                  <a:pt x="0" y="403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36329" y="1745146"/>
            <a:ext cx="10851092" cy="243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6255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Exploratory Data Analysis (EDA)</a:t>
            </a:r>
          </a:p>
          <a:p>
            <a:pPr algn="l">
              <a:lnSpc>
                <a:spcPts val="3686"/>
              </a:lnSpc>
            </a:pPr>
          </a:p>
          <a:p>
            <a:pPr algn="l">
              <a:lnSpc>
                <a:spcPts val="5004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4747172" y="3469231"/>
            <a:ext cx="1343260" cy="134326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88082" y="3391748"/>
            <a:ext cx="11522722" cy="107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7"/>
              </a:lnSpc>
            </a:pPr>
            <a:r>
              <a:rPr lang="en-US" sz="50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EDA helps uncover hidden patterns that drive price changes: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97681" y="4664927"/>
            <a:ext cx="262038" cy="2620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7681" y="6529044"/>
            <a:ext cx="262038" cy="26203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316715" y="1224047"/>
            <a:ext cx="5742639" cy="7648353"/>
          </a:xfrm>
          <a:custGeom>
            <a:avLst/>
            <a:gdLst/>
            <a:ahLst/>
            <a:cxnLst/>
            <a:rect r="r" b="b" t="t" l="l"/>
            <a:pathLst>
              <a:path h="7648353" w="5742639">
                <a:moveTo>
                  <a:pt x="0" y="0"/>
                </a:moveTo>
                <a:lnTo>
                  <a:pt x="5742639" y="0"/>
                </a:lnTo>
                <a:lnTo>
                  <a:pt x="5742639" y="7648354"/>
                </a:lnTo>
                <a:lnTo>
                  <a:pt x="0" y="7648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1623420" y="1477600"/>
            <a:ext cx="1343260" cy="134326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97681" y="5301912"/>
            <a:ext cx="262038" cy="262038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97681" y="5881162"/>
            <a:ext cx="262038" cy="262038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2590325" y="2234319"/>
            <a:ext cx="3226741" cy="5744307"/>
          </a:xfrm>
          <a:custGeom>
            <a:avLst/>
            <a:gdLst/>
            <a:ahLst/>
            <a:cxnLst/>
            <a:rect r="r" b="b" t="t" l="l"/>
            <a:pathLst>
              <a:path h="5744307" w="3226741">
                <a:moveTo>
                  <a:pt x="0" y="0"/>
                </a:moveTo>
                <a:lnTo>
                  <a:pt x="3226741" y="0"/>
                </a:lnTo>
                <a:lnTo>
                  <a:pt x="3226741" y="5744308"/>
                </a:lnTo>
                <a:lnTo>
                  <a:pt x="0" y="5744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367" t="0" r="-25764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68731" y="6492307"/>
            <a:ext cx="3844475" cy="31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681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Importance: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774314" y="9473025"/>
            <a:ext cx="484986" cy="24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9938" y="5903531"/>
            <a:ext cx="3653975" cy="31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681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Box Plots: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3981" y="5324281"/>
            <a:ext cx="3653975" cy="31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681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Distribution Plots: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49938" y="4743410"/>
            <a:ext cx="3844475" cy="31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2681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Corelation Heatmap: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988630" y="6406582"/>
            <a:ext cx="7306420" cy="61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21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Determines which attributes strongly influence price (e.g., location, area, rooms).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272175" y="5912645"/>
            <a:ext cx="8310740" cy="61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21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Reveal outliers affecting prediction accuracy.</a:t>
            </a:r>
          </a:p>
          <a:p>
            <a:pPr algn="l">
              <a:lnSpc>
                <a:spcPts val="2442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4655939" y="5325232"/>
            <a:ext cx="8310740" cy="61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21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Identify skewness and spread of numerical data.</a:t>
            </a:r>
          </a:p>
          <a:p>
            <a:pPr algn="l">
              <a:lnSpc>
                <a:spcPts val="2442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5194412" y="4753887"/>
            <a:ext cx="7100637" cy="724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5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Shows relationship between features &amp; price.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29070" y="8267701"/>
            <a:ext cx="11522722" cy="880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sz="45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Insights from EDA guide model selection and performance tuning.</a:t>
            </a:r>
          </a:p>
          <a:p>
            <a:pPr algn="l">
              <a:lnSpc>
                <a:spcPts val="10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2917" y="1710815"/>
            <a:ext cx="19526368" cy="2240807"/>
            <a:chOff x="0" y="0"/>
            <a:chExt cx="5142747" cy="590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42747" cy="590171"/>
            </a:xfrm>
            <a:custGeom>
              <a:avLst/>
              <a:gdLst/>
              <a:ahLst/>
              <a:cxnLst/>
              <a:rect r="r" b="b" t="t" l="l"/>
              <a:pathLst>
                <a:path h="590171" w="5142747">
                  <a:moveTo>
                    <a:pt x="0" y="0"/>
                  </a:moveTo>
                  <a:lnTo>
                    <a:pt x="5142747" y="0"/>
                  </a:lnTo>
                  <a:lnTo>
                    <a:pt x="5142747" y="590171"/>
                  </a:lnTo>
                  <a:lnTo>
                    <a:pt x="0" y="590171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42747" cy="628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49938" y="875473"/>
            <a:ext cx="490149" cy="403705"/>
          </a:xfrm>
          <a:custGeom>
            <a:avLst/>
            <a:gdLst/>
            <a:ahLst/>
            <a:cxnLst/>
            <a:rect r="r" b="b" t="t" l="l"/>
            <a:pathLst>
              <a:path h="403705" w="490149">
                <a:moveTo>
                  <a:pt x="0" y="0"/>
                </a:moveTo>
                <a:lnTo>
                  <a:pt x="490149" y="0"/>
                </a:lnTo>
                <a:lnTo>
                  <a:pt x="490149" y="403705"/>
                </a:lnTo>
                <a:lnTo>
                  <a:pt x="0" y="403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5218" y="9166597"/>
            <a:ext cx="19526368" cy="2240807"/>
            <a:chOff x="0" y="0"/>
            <a:chExt cx="5142747" cy="5901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42747" cy="590171"/>
            </a:xfrm>
            <a:custGeom>
              <a:avLst/>
              <a:gdLst/>
              <a:ahLst/>
              <a:cxnLst/>
              <a:rect r="r" b="b" t="t" l="l"/>
              <a:pathLst>
                <a:path h="590171" w="5142747">
                  <a:moveTo>
                    <a:pt x="0" y="0"/>
                  </a:moveTo>
                  <a:lnTo>
                    <a:pt x="5142747" y="0"/>
                  </a:lnTo>
                  <a:lnTo>
                    <a:pt x="5142747" y="590171"/>
                  </a:lnTo>
                  <a:lnTo>
                    <a:pt x="0" y="590171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142747" cy="628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50032" y="-529992"/>
            <a:ext cx="19526368" cy="2240807"/>
            <a:chOff x="0" y="0"/>
            <a:chExt cx="5142747" cy="5901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42747" cy="590171"/>
            </a:xfrm>
            <a:custGeom>
              <a:avLst/>
              <a:gdLst/>
              <a:ahLst/>
              <a:cxnLst/>
              <a:rect r="r" b="b" t="t" l="l"/>
              <a:pathLst>
                <a:path h="590171" w="5142747">
                  <a:moveTo>
                    <a:pt x="0" y="0"/>
                  </a:moveTo>
                  <a:lnTo>
                    <a:pt x="5142747" y="0"/>
                  </a:lnTo>
                  <a:lnTo>
                    <a:pt x="5142747" y="590171"/>
                  </a:lnTo>
                  <a:lnTo>
                    <a:pt x="0" y="590171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142747" cy="628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28008" y="4005999"/>
            <a:ext cx="8099959" cy="5106221"/>
            <a:chOff x="0" y="0"/>
            <a:chExt cx="2133322" cy="13448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322" cy="1344848"/>
            </a:xfrm>
            <a:custGeom>
              <a:avLst/>
              <a:gdLst/>
              <a:ahLst/>
              <a:cxnLst/>
              <a:rect r="r" b="b" t="t" l="l"/>
              <a:pathLst>
                <a:path h="1344848" w="2133322">
                  <a:moveTo>
                    <a:pt x="0" y="0"/>
                  </a:moveTo>
                  <a:lnTo>
                    <a:pt x="2133322" y="0"/>
                  </a:lnTo>
                  <a:lnTo>
                    <a:pt x="2133322" y="1344848"/>
                  </a:lnTo>
                  <a:lnTo>
                    <a:pt x="0" y="1344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33322" cy="1382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69846" y="4380246"/>
            <a:ext cx="4981763" cy="3996239"/>
            <a:chOff x="0" y="0"/>
            <a:chExt cx="1312069" cy="10525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2069" cy="1052507"/>
            </a:xfrm>
            <a:custGeom>
              <a:avLst/>
              <a:gdLst/>
              <a:ahLst/>
              <a:cxnLst/>
              <a:rect r="r" b="b" t="t" l="l"/>
              <a:pathLst>
                <a:path h="1052507" w="1312069">
                  <a:moveTo>
                    <a:pt x="0" y="0"/>
                  </a:moveTo>
                  <a:lnTo>
                    <a:pt x="1312069" y="0"/>
                  </a:lnTo>
                  <a:lnTo>
                    <a:pt x="1312069" y="1052507"/>
                  </a:lnTo>
                  <a:lnTo>
                    <a:pt x="0" y="1052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12069" cy="109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595013" y="4126775"/>
            <a:ext cx="8032954" cy="518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21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Multiple regression algorithms are implemented and compared:</a:t>
            </a:r>
          </a:p>
          <a:p>
            <a:pPr algn="l">
              <a:lnSpc>
                <a:spcPts val="2442"/>
              </a:lnSpc>
            </a:pPr>
          </a:p>
          <a:p>
            <a:pPr algn="l">
              <a:lnSpc>
                <a:spcPts val="2442"/>
              </a:lnSpc>
            </a:pPr>
            <a:r>
              <a:rPr lang="en-US" sz="21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Linear Regression: Baseline model for simple relationships.</a:t>
            </a:r>
          </a:p>
          <a:p>
            <a:pPr algn="l">
              <a:lnSpc>
                <a:spcPts val="2442"/>
              </a:lnSpc>
            </a:pPr>
          </a:p>
          <a:p>
            <a:pPr algn="l">
              <a:lnSpc>
                <a:spcPts val="2442"/>
              </a:lnSpc>
            </a:pPr>
            <a:r>
              <a:rPr lang="en-US" sz="21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Decision Tree Regressor: Captures nonlinear patterns.</a:t>
            </a:r>
          </a:p>
          <a:p>
            <a:pPr algn="l">
              <a:lnSpc>
                <a:spcPts val="2442"/>
              </a:lnSpc>
            </a:pPr>
          </a:p>
          <a:p>
            <a:pPr algn="l">
              <a:lnSpc>
                <a:spcPts val="2442"/>
              </a:lnSpc>
            </a:pPr>
            <a:r>
              <a:rPr lang="en-US" sz="21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Random Forest Regressor: Ensemble method with higher accuracy.</a:t>
            </a:r>
          </a:p>
          <a:p>
            <a:pPr algn="l">
              <a:lnSpc>
                <a:spcPts val="2442"/>
              </a:lnSpc>
            </a:pPr>
          </a:p>
          <a:p>
            <a:pPr algn="l">
              <a:lnSpc>
                <a:spcPts val="2442"/>
              </a:lnSpc>
            </a:pPr>
            <a:r>
              <a:rPr lang="en-US" sz="21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XGBoost Regressor: Boosting algorithm offering strong performance and low error.</a:t>
            </a:r>
          </a:p>
          <a:p>
            <a:pPr algn="l">
              <a:lnSpc>
                <a:spcPts val="2442"/>
              </a:lnSpc>
            </a:pPr>
            <a:r>
              <a:rPr lang="en-US" sz="21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Hyperparameter tuning improves model accuracy.</a:t>
            </a:r>
          </a:p>
          <a:p>
            <a:pPr algn="l">
              <a:lnSpc>
                <a:spcPts val="2442"/>
              </a:lnSpc>
            </a:pPr>
            <a:r>
              <a:rPr lang="en-US" sz="21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best-performing model is selected based on evaluation metrics.</a:t>
            </a:r>
          </a:p>
          <a:p>
            <a:pPr algn="l">
              <a:lnSpc>
                <a:spcPts val="2442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82681" y="3005603"/>
            <a:ext cx="1892038" cy="189203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1118991" y="3951621"/>
            <a:ext cx="7169009" cy="4424864"/>
          </a:xfrm>
          <a:custGeom>
            <a:avLst/>
            <a:gdLst/>
            <a:ahLst/>
            <a:cxnLst/>
            <a:rect r="r" b="b" t="t" l="l"/>
            <a:pathLst>
              <a:path h="4424864" w="7169009">
                <a:moveTo>
                  <a:pt x="0" y="0"/>
                </a:moveTo>
                <a:lnTo>
                  <a:pt x="7169009" y="0"/>
                </a:lnTo>
                <a:lnTo>
                  <a:pt x="7169009" y="4424864"/>
                </a:lnTo>
                <a:lnTo>
                  <a:pt x="0" y="4424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71" r="-7181" b="-971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726201" y="2238541"/>
            <a:ext cx="8188799" cy="145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b="true" sz="6833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Building &amp; Algorithms Used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74314" y="9473025"/>
            <a:ext cx="354591" cy="24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938" y="875473"/>
            <a:ext cx="490149" cy="403705"/>
          </a:xfrm>
          <a:custGeom>
            <a:avLst/>
            <a:gdLst/>
            <a:ahLst/>
            <a:cxnLst/>
            <a:rect r="r" b="b" t="t" l="l"/>
            <a:pathLst>
              <a:path h="403705" w="490149">
                <a:moveTo>
                  <a:pt x="0" y="0"/>
                </a:moveTo>
                <a:lnTo>
                  <a:pt x="490149" y="0"/>
                </a:lnTo>
                <a:lnTo>
                  <a:pt x="490149" y="403705"/>
                </a:lnTo>
                <a:lnTo>
                  <a:pt x="0" y="403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36831" y="2303914"/>
            <a:ext cx="2414254" cy="241425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963054" y="6873045"/>
            <a:ext cx="1892038" cy="189203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861737" y="3674458"/>
            <a:ext cx="2155070" cy="215507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377984" y="4289696"/>
            <a:ext cx="1122575" cy="924593"/>
          </a:xfrm>
          <a:custGeom>
            <a:avLst/>
            <a:gdLst/>
            <a:ahLst/>
            <a:cxnLst/>
            <a:rect r="r" b="b" t="t" l="l"/>
            <a:pathLst>
              <a:path h="924593" w="1122575">
                <a:moveTo>
                  <a:pt x="0" y="0"/>
                </a:moveTo>
                <a:lnTo>
                  <a:pt x="1122575" y="0"/>
                </a:lnTo>
                <a:lnTo>
                  <a:pt x="1122575" y="924594"/>
                </a:lnTo>
                <a:lnTo>
                  <a:pt x="0" y="924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476446" y="1521918"/>
            <a:ext cx="3185721" cy="318572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798532" y="3287239"/>
            <a:ext cx="5727270" cy="4531825"/>
          </a:xfrm>
          <a:custGeom>
            <a:avLst/>
            <a:gdLst/>
            <a:ahLst/>
            <a:cxnLst/>
            <a:rect r="r" b="b" t="t" l="l"/>
            <a:pathLst>
              <a:path h="4531825" w="5727270">
                <a:moveTo>
                  <a:pt x="0" y="0"/>
                </a:moveTo>
                <a:lnTo>
                  <a:pt x="5727270" y="0"/>
                </a:lnTo>
                <a:lnTo>
                  <a:pt x="5727270" y="4531824"/>
                </a:lnTo>
                <a:lnTo>
                  <a:pt x="0" y="45318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774314" y="9473025"/>
            <a:ext cx="484986" cy="24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4531" y="1583978"/>
            <a:ext cx="8353290" cy="1464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6833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Model Evaluation &amp; Results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9165" y="6444847"/>
            <a:ext cx="7310908" cy="74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7"/>
              </a:lnSpc>
            </a:pPr>
            <a:r>
              <a:rPr lang="en-US" sz="6533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 Summary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6304" y="3095937"/>
            <a:ext cx="6871373" cy="2922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22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models are evaluated using:</a:t>
            </a:r>
          </a:p>
          <a:p>
            <a:pPr algn="l">
              <a:lnSpc>
                <a:spcPts val="2556"/>
              </a:lnSpc>
            </a:pPr>
            <a:r>
              <a:rPr lang="en-US" sz="22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Mean Absolute Error (MAE) – average prediction error</a:t>
            </a:r>
          </a:p>
          <a:p>
            <a:pPr algn="l">
              <a:lnSpc>
                <a:spcPts val="2556"/>
              </a:lnSpc>
            </a:pPr>
            <a:r>
              <a:rPr lang="en-US" sz="22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Mean Squared Error (MSE) – penalizes large errors</a:t>
            </a:r>
          </a:p>
          <a:p>
            <a:pPr algn="l">
              <a:lnSpc>
                <a:spcPts val="2556"/>
              </a:lnSpc>
            </a:pPr>
            <a:r>
              <a:rPr lang="en-US" sz="22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Root Mean Squared Error (RMSE) – overall model accuracy</a:t>
            </a:r>
          </a:p>
          <a:p>
            <a:pPr algn="l">
              <a:lnSpc>
                <a:spcPts val="2556"/>
              </a:lnSpc>
            </a:pPr>
            <a:r>
              <a:rPr lang="en-US" sz="224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R² Score – how well model explains price variance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7403485"/>
            <a:ext cx="7098977" cy="204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236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Random Forest/XGBoost achieves the highest accuracy and lowest error.</a:t>
            </a:r>
          </a:p>
          <a:p>
            <a:pPr algn="l">
              <a:lnSpc>
                <a:spcPts val="2701"/>
              </a:lnSpc>
            </a:pPr>
            <a:r>
              <a:rPr lang="en-US" sz="236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Actual vs Predicted price plots show close alignment.</a:t>
            </a:r>
          </a:p>
          <a:p>
            <a:pPr algn="l">
              <a:lnSpc>
                <a:spcPts val="2701"/>
              </a:lnSpc>
            </a:pPr>
            <a:r>
              <a:rPr lang="en-US" sz="2369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importance graphs highlight top predictors (location, area, rooms).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30995" y="168131"/>
            <a:ext cx="2999351" cy="299935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86947" y="2058332"/>
            <a:ext cx="14241958" cy="215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8"/>
              </a:lnSpc>
            </a:pPr>
            <a:r>
              <a:rPr lang="en-US" b="true" sz="10036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And Future Scope</a:t>
            </a:r>
          </a:p>
        </p:txBody>
      </p:sp>
      <p:grpSp>
        <p:nvGrpSpPr>
          <p:cNvPr name="Group 6" id="6"/>
          <p:cNvGrpSpPr/>
          <p:nvPr/>
        </p:nvGrpSpPr>
        <p:grpSpPr>
          <a:xfrm rot="-7357214">
            <a:off x="14959414" y="4177701"/>
            <a:ext cx="1931597" cy="193159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49938" y="875473"/>
            <a:ext cx="490149" cy="403705"/>
          </a:xfrm>
          <a:custGeom>
            <a:avLst/>
            <a:gdLst/>
            <a:ahLst/>
            <a:cxnLst/>
            <a:rect r="r" b="b" t="t" l="l"/>
            <a:pathLst>
              <a:path h="403705" w="490149">
                <a:moveTo>
                  <a:pt x="0" y="0"/>
                </a:moveTo>
                <a:lnTo>
                  <a:pt x="490149" y="0"/>
                </a:lnTo>
                <a:lnTo>
                  <a:pt x="490149" y="403705"/>
                </a:lnTo>
                <a:lnTo>
                  <a:pt x="0" y="403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74314" y="9473025"/>
            <a:ext cx="354591" cy="24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5948" y="4653184"/>
            <a:ext cx="13221567" cy="460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940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Successfully built an ML model capable of predicting house prices with high accuracy.</a:t>
            </a:r>
          </a:p>
          <a:p>
            <a:pPr algn="l">
              <a:lnSpc>
                <a:spcPts val="3351"/>
              </a:lnSpc>
            </a:pPr>
            <a:r>
              <a:rPr lang="en-US" sz="2940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preprocessing and EDA significantly improved performance.</a:t>
            </a:r>
          </a:p>
          <a:p>
            <a:pPr algn="l">
              <a:lnSpc>
                <a:spcPts val="3351"/>
              </a:lnSpc>
            </a:pPr>
            <a:r>
              <a:rPr lang="en-US" sz="2940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Ensemble models like Random Forest and XGBoost produced the best results.</a:t>
            </a:r>
          </a:p>
          <a:p>
            <a:pPr algn="l">
              <a:lnSpc>
                <a:spcPts val="3351"/>
              </a:lnSpc>
            </a:pPr>
            <a:r>
              <a:rPr lang="en-US" sz="2940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Enhancements:</a:t>
            </a:r>
          </a:p>
          <a:p>
            <a:pPr algn="l">
              <a:lnSpc>
                <a:spcPts val="3351"/>
              </a:lnSpc>
            </a:pPr>
            <a:r>
              <a:rPr lang="en-US" sz="2940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Integrating more features (crime rates, local economy, road connectivity).</a:t>
            </a:r>
          </a:p>
          <a:p>
            <a:pPr algn="l">
              <a:lnSpc>
                <a:spcPts val="3351"/>
              </a:lnSpc>
            </a:pPr>
            <a:r>
              <a:rPr lang="en-US" sz="2940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Deploying as a web application using Flask or Streamlit.</a:t>
            </a:r>
          </a:p>
          <a:p>
            <a:pPr algn="l">
              <a:lnSpc>
                <a:spcPts val="3351"/>
              </a:lnSpc>
            </a:pPr>
            <a:r>
              <a:rPr lang="en-US" sz="2940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Using deep learning models (ANNs) for larger datasets.</a:t>
            </a:r>
          </a:p>
          <a:p>
            <a:pPr algn="l">
              <a:lnSpc>
                <a:spcPts val="3351"/>
              </a:lnSpc>
            </a:pPr>
            <a:r>
              <a:rPr lang="en-US" sz="2940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data integration for dynamic pricing.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9840" y="2149955"/>
            <a:ext cx="2999351" cy="299935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33203" y="3316034"/>
            <a:ext cx="7055617" cy="154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8"/>
              </a:lnSpc>
            </a:pPr>
            <a:r>
              <a:rPr lang="en-US" b="true" sz="13535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89516" y="4760679"/>
            <a:ext cx="4990576" cy="154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8"/>
              </a:lnSpc>
            </a:pPr>
            <a:r>
              <a:rPr lang="en-US" sz="13535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You.</a:t>
            </a:r>
          </a:p>
        </p:txBody>
      </p:sp>
      <p:grpSp>
        <p:nvGrpSpPr>
          <p:cNvPr name="Group 7" id="7"/>
          <p:cNvGrpSpPr/>
          <p:nvPr/>
        </p:nvGrpSpPr>
        <p:grpSpPr>
          <a:xfrm rot="-7357214">
            <a:off x="10690988" y="3451709"/>
            <a:ext cx="1931597" cy="193159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49938" y="875473"/>
            <a:ext cx="490149" cy="403705"/>
          </a:xfrm>
          <a:custGeom>
            <a:avLst/>
            <a:gdLst/>
            <a:ahLst/>
            <a:cxnLst/>
            <a:rect r="r" b="b" t="t" l="l"/>
            <a:pathLst>
              <a:path h="403705" w="490149">
                <a:moveTo>
                  <a:pt x="0" y="0"/>
                </a:moveTo>
                <a:lnTo>
                  <a:pt x="490149" y="0"/>
                </a:lnTo>
                <a:lnTo>
                  <a:pt x="490149" y="403705"/>
                </a:lnTo>
                <a:lnTo>
                  <a:pt x="0" y="403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96708" y="8186988"/>
            <a:ext cx="511791" cy="511791"/>
          </a:xfrm>
          <a:custGeom>
            <a:avLst/>
            <a:gdLst/>
            <a:ahLst/>
            <a:cxnLst/>
            <a:rect r="r" b="b" t="t" l="l"/>
            <a:pathLst>
              <a:path h="511791" w="511791">
                <a:moveTo>
                  <a:pt x="0" y="0"/>
                </a:moveTo>
                <a:lnTo>
                  <a:pt x="511791" y="0"/>
                </a:lnTo>
                <a:lnTo>
                  <a:pt x="511791" y="511791"/>
                </a:lnTo>
                <a:lnTo>
                  <a:pt x="0" y="5117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491235" y="7868085"/>
            <a:ext cx="19270471" cy="1068974"/>
            <a:chOff x="0" y="0"/>
            <a:chExt cx="5075350" cy="2815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75350" cy="281540"/>
            </a:xfrm>
            <a:custGeom>
              <a:avLst/>
              <a:gdLst/>
              <a:ahLst/>
              <a:cxnLst/>
              <a:rect r="r" b="b" t="t" l="l"/>
              <a:pathLst>
                <a:path h="281540" w="5075350">
                  <a:moveTo>
                    <a:pt x="0" y="0"/>
                  </a:moveTo>
                  <a:lnTo>
                    <a:pt x="5075350" y="0"/>
                  </a:lnTo>
                  <a:lnTo>
                    <a:pt x="5075350" y="281540"/>
                  </a:lnTo>
                  <a:lnTo>
                    <a:pt x="0" y="281540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075350" cy="319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118555" y="8186988"/>
            <a:ext cx="511791" cy="511791"/>
          </a:xfrm>
          <a:custGeom>
            <a:avLst/>
            <a:gdLst/>
            <a:ahLst/>
            <a:cxnLst/>
            <a:rect r="r" b="b" t="t" l="l"/>
            <a:pathLst>
              <a:path h="511791" w="511791">
                <a:moveTo>
                  <a:pt x="0" y="0"/>
                </a:moveTo>
                <a:lnTo>
                  <a:pt x="511791" y="0"/>
                </a:lnTo>
                <a:lnTo>
                  <a:pt x="511791" y="511791"/>
                </a:lnTo>
                <a:lnTo>
                  <a:pt x="0" y="5117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041292" y="8203723"/>
            <a:ext cx="421145" cy="421145"/>
          </a:xfrm>
          <a:custGeom>
            <a:avLst/>
            <a:gdLst/>
            <a:ahLst/>
            <a:cxnLst/>
            <a:rect r="r" b="b" t="t" l="l"/>
            <a:pathLst>
              <a:path h="421145" w="421145">
                <a:moveTo>
                  <a:pt x="0" y="0"/>
                </a:moveTo>
                <a:lnTo>
                  <a:pt x="421145" y="0"/>
                </a:lnTo>
                <a:lnTo>
                  <a:pt x="421145" y="421145"/>
                </a:lnTo>
                <a:lnTo>
                  <a:pt x="0" y="4211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74314" y="9473025"/>
            <a:ext cx="354591" cy="24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35255" y="6981783"/>
            <a:ext cx="4451512" cy="30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1"/>
              </a:lnSpc>
            </a:pPr>
            <a:r>
              <a:rPr lang="en-US" sz="2639" i="true">
                <a:solidFill>
                  <a:srgbClr val="24096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Get In Touch With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70925" y="8356149"/>
            <a:ext cx="2834310" cy="26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7"/>
              </a:lnSpc>
            </a:pPr>
            <a:r>
              <a:rPr lang="en-US" sz="2397" b="true">
                <a:solidFill>
                  <a:srgbClr val="24096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7985667121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97046" y="8356149"/>
            <a:ext cx="4321686" cy="26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7"/>
              </a:lnSpc>
            </a:pPr>
            <a:r>
              <a:rPr lang="en-US" sz="2397" b="true">
                <a:solidFill>
                  <a:srgbClr val="24096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praptit1230@gmail.com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07219" y="8356149"/>
            <a:ext cx="4321686" cy="26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7"/>
              </a:lnSpc>
            </a:pPr>
            <a:r>
              <a:rPr lang="en-US" sz="2397" b="true">
                <a:solidFill>
                  <a:srgbClr val="24096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github.com/prapti1230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DAG6YI4g9Yo</dc:identifier>
  <dcterms:modified xsi:type="dcterms:W3CDTF">2011-08-01T06:04:30Z</dcterms:modified>
  <cp:revision>1</cp:revision>
  <dc:title>Purple Modern Minimalist Business Development Presentation</dc:title>
</cp:coreProperties>
</file>